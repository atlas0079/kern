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1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E611F-CF23-4B66-AAD4-30C148D6E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B688F0-DB91-0BEB-D930-CB9DF994D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5F62DC-E664-E575-6DE9-633B950A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306CB2-84DD-EFA5-81D5-18A3F33C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F6CB9C-F50D-BA91-D16B-3A3A51F9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97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7F88A-6BD7-342C-DFA2-9FD698AE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E1233E-76D5-07E5-3F94-D0539472E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2F0518-0A53-AFBC-FFDD-E194958B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5DA3E6-FC0A-64B4-F597-9A7D5613C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8EBC1-B125-3F9A-8D41-E4498C3D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90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592535-A583-0DED-30C4-4DC661697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17A5AA-8A94-F674-0848-C7F807E57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CE6FC1-8752-655C-DCCB-72B96D32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3FBDC-3D61-A57D-E507-73860A1C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733B1-427B-A16E-37CF-986CBEBE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214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E3B3F-2663-BC35-793A-96B89D6E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EA95F8-22FC-F27D-F6C5-02AD81BB6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92667D-73E5-C956-0C61-1E418E1D4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713705-B41E-E6B6-5CFC-9B5C719C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9F6B58-D474-5778-E183-D922F047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27342A-6C80-9FA3-66C4-A9B1179D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359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E2CAD-F8BC-A1B3-C9EE-02E389D4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6A46C2-7EC3-D1DE-D74A-56F4CDAA4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CEBEF3-46B6-729C-2FC7-BE2C8C37D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6AA458-A0BD-2389-B7C2-BDBAF49AE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709E23E-6155-EC7E-AD39-DDDB1F6A7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95EC2A-D318-BA78-D817-81B421F4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BF1968-D2D1-7DD9-2933-1B890395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26BD8D-CF84-7DA9-0DC7-D92D2205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78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337EA7-F228-74B9-4E3D-D3C76262F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8BC387-3313-33DD-51D9-E3C8C23FF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A009A5-F0C4-1FC5-6BD0-C8D50605D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CFC4E0-82B4-99E0-5B57-6A73B61F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26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F9BD8F-B31F-26E1-2F5B-5C0F8602D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AED425-4890-D79E-A567-275021AE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CFB203-352F-F53E-C584-E133F2FA9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12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5F5F2-D2E0-9947-DF9C-2176B213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7776EB-2BC2-5A99-F50A-A5B4A4C12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04607B-8603-56FC-76E9-4053767A5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298E7B-0DE9-352F-227E-AA99267A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39780-7E26-B1F3-A486-271F73AE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94BA28-ED10-EA78-93CA-83523E01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9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8C86A6-840A-FA56-B69E-BA1F9A74E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90CC07-51F4-9C48-DF90-5287BE065B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0833A0-20B8-378B-8F48-024CBD6EE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02CD92-4570-3D90-8CAB-A980E638A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387DCA-F5F3-0CD5-E631-AABC3125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2A5F82-4ACC-9698-2C84-DDD7039F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642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0DE16-D5F4-1CC7-D6A7-DDC9ADA0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9E17BF-5A41-9E70-A8E8-22286DD01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93A552-E69B-D351-1AD4-06ED118FD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BFC3D1-5225-0366-BEE3-2147BE14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8FC0E3-0466-5335-8D8D-35541533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91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C3F872B-12AE-5D17-E61C-3FC0FE118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28E049-D536-4564-3FBE-B1B6B8037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C40B3-AA4B-47DC-ECF1-345D53ED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994621-BDC0-1300-B7FE-30FC0D74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903A51-1F3E-3E6E-1581-9BC1C888C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47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F1AF11-65B9-0F0D-B724-E32F7943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11E1CF-812C-95D6-C38D-765BEF97E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9B5F0-E567-8100-6785-18360467F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7C816-4FDE-4259-8033-90E0A062BDA2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354B8-A361-BE58-4F2A-2221D5F2E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838B63-A5FF-E8C7-D100-5F2D83DF8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42753-0902-4CBA-93F5-7C71404B8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17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google-deepmind/concordi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google-deepmind/concordia" TargetMode="External"/><Relationship Id="rId4" Type="http://schemas.openxmlformats.org/officeDocument/2006/relationships/hyperlink" Target="https://arxiv.org/html/2501.18668v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rxiv.org/html/2403.12014v2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arxiv.org/pdf/2408.00764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C17E552C-9216-5658-428E-648534B0A2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7052" y="383346"/>
            <a:ext cx="8813881" cy="609130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94E4DA3-5CD0-E815-4B28-7DFAF7B0A852}"/>
              </a:ext>
            </a:extLst>
          </p:cNvPr>
          <p:cNvSpPr txBox="1"/>
          <p:nvPr/>
        </p:nvSpPr>
        <p:spPr>
          <a:xfrm>
            <a:off x="0" y="1395569"/>
            <a:ext cx="342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8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concordia</a:t>
            </a:r>
            <a:r>
              <a:rPr lang="en-US" altLang="zh-CN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altLang="zh-CN" sz="1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</a:t>
            </a:r>
            <a:r>
              <a:rPr lang="en-US" altLang="zh-CN" sz="1800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deepmind</a:t>
            </a:r>
            <a:endParaRPr lang="en-US" altLang="zh-CN" sz="1800" dirty="0"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148015-1AB3-57A9-41EF-83E7F9D119E4}"/>
              </a:ext>
            </a:extLst>
          </p:cNvPr>
          <p:cNvSpPr txBox="1"/>
          <p:nvPr/>
        </p:nvSpPr>
        <p:spPr>
          <a:xfrm>
            <a:off x="4961466" y="3803135"/>
            <a:ext cx="22690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</a:rPr>
              <a:t>每轮对话都需要</a:t>
            </a:r>
            <a:r>
              <a:rPr lang="en-US" altLang="zh-CN" sz="1200" dirty="0">
                <a:solidFill>
                  <a:srgbClr val="FF0000"/>
                </a:solidFill>
              </a:rPr>
              <a:t>GM</a:t>
            </a:r>
            <a:r>
              <a:rPr lang="zh-CN" altLang="en-US" sz="1200" dirty="0">
                <a:solidFill>
                  <a:srgbClr val="FF0000"/>
                </a:solidFill>
              </a:rPr>
              <a:t>模型的参与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1041BD1-C766-80D8-3665-40E45304A60E}"/>
              </a:ext>
            </a:extLst>
          </p:cNvPr>
          <p:cNvCxnSpPr>
            <a:stCxn id="13" idx="3"/>
          </p:cNvCxnSpPr>
          <p:nvPr/>
        </p:nvCxnSpPr>
        <p:spPr>
          <a:xfrm flipV="1">
            <a:off x="7230533" y="3852333"/>
            <a:ext cx="762000" cy="893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12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40399C5F-0C4D-EE14-CD9B-88E874ABD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369" y="1274465"/>
            <a:ext cx="9233164" cy="45087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56FF15-190C-4FA9-3E6C-7ADEDC300E65}"/>
              </a:ext>
            </a:extLst>
          </p:cNvPr>
          <p:cNvSpPr txBox="1"/>
          <p:nvPr/>
        </p:nvSpPr>
        <p:spPr>
          <a:xfrm>
            <a:off x="2264833" y="351135"/>
            <a:ext cx="7662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2. Simulation Streams: A Programming Paradigm for Controlling Large Language Models and Building Complex Systems with Generative AI.</a:t>
            </a:r>
            <a:endParaRPr lang="en-US" altLang="zh-CN" dirty="0"/>
          </a:p>
          <a:p>
            <a:r>
              <a:rPr lang="en-US" altLang="zh-CN" sz="1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google-</a:t>
            </a:r>
            <a:r>
              <a:rPr lang="en-US" altLang="zh-CN" sz="18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deepmind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56D089-0A17-D25D-8533-E985454A3D77}"/>
              </a:ext>
            </a:extLst>
          </p:cNvPr>
          <p:cNvSpPr txBox="1"/>
          <p:nvPr/>
        </p:nvSpPr>
        <p:spPr>
          <a:xfrm>
            <a:off x="9482667" y="2878667"/>
            <a:ext cx="3208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由人类开发者定义的状态空间</a:t>
            </a:r>
            <a:endParaRPr lang="en-US" altLang="zh-CN" sz="1400" dirty="0"/>
          </a:p>
          <a:p>
            <a:r>
              <a:rPr lang="en-US" altLang="zh-CN" sz="1400" dirty="0"/>
              <a:t>Agent</a:t>
            </a:r>
            <a:r>
              <a:rPr lang="zh-CN" altLang="en-US" sz="1400" dirty="0"/>
              <a:t>无法创造不存在的物体。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E6ECF62-D956-8AB8-6FC1-71B27C29F4D2}"/>
              </a:ext>
            </a:extLst>
          </p:cNvPr>
          <p:cNvCxnSpPr>
            <a:cxnSpLocks/>
          </p:cNvCxnSpPr>
          <p:nvPr/>
        </p:nvCxnSpPr>
        <p:spPr>
          <a:xfrm flipH="1" flipV="1">
            <a:off x="9927166" y="1930400"/>
            <a:ext cx="605367" cy="948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590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3CED09C-EBAA-CC2F-E6E0-6246C5A57CD4}"/>
              </a:ext>
            </a:extLst>
          </p:cNvPr>
          <p:cNvSpPr txBox="1"/>
          <p:nvPr/>
        </p:nvSpPr>
        <p:spPr>
          <a:xfrm>
            <a:off x="2751667" y="5117869"/>
            <a:ext cx="7086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rival-sans"/>
              </a:rPr>
              <a:t>利用 </a:t>
            </a:r>
            <a:r>
              <a:rPr lang="en-US" altLang="zh-CN" b="0" dirty="0">
                <a:effectLst/>
                <a:latin typeface="rival-sans"/>
              </a:rPr>
              <a:t>LLM </a:t>
            </a:r>
            <a:r>
              <a:rPr lang="zh-CN" altLang="en-US" b="0" dirty="0">
                <a:effectLst/>
                <a:latin typeface="rival-sans"/>
              </a:rPr>
              <a:t>的推理能力，自适应地创建训练环境，帮助小型具身 </a:t>
            </a:r>
            <a:r>
              <a:rPr lang="en-US" altLang="zh-CN" b="0" dirty="0">
                <a:effectLst/>
                <a:latin typeface="rival-sans"/>
              </a:rPr>
              <a:t>RL </a:t>
            </a:r>
            <a:r>
              <a:rPr lang="zh-CN" altLang="en-US" b="0" dirty="0">
                <a:effectLst/>
                <a:latin typeface="rival-sans"/>
              </a:rPr>
              <a:t>智能体学习它们不擅长的技能，而不是直接将 </a:t>
            </a:r>
            <a:r>
              <a:rPr lang="en-US" altLang="zh-CN" b="0" dirty="0">
                <a:effectLst/>
                <a:latin typeface="rival-sans"/>
              </a:rPr>
              <a:t>LLM </a:t>
            </a:r>
            <a:r>
              <a:rPr lang="zh-CN" altLang="en-US" b="0" dirty="0">
                <a:effectLst/>
                <a:latin typeface="rival-sans"/>
              </a:rPr>
              <a:t>用作具身智能体</a:t>
            </a:r>
            <a:endParaRPr lang="en-US" altLang="zh-CN" b="0" dirty="0">
              <a:effectLst/>
              <a:latin typeface="rival-sans"/>
            </a:endParaRPr>
          </a:p>
          <a:p>
            <a:endParaRPr lang="en-US" altLang="zh-CN" dirty="0">
              <a:latin typeface="rival-sans"/>
            </a:endParaRPr>
          </a:p>
          <a:p>
            <a:r>
              <a:rPr lang="zh-CN" altLang="en-US" dirty="0">
                <a:latin typeface="rival-sans"/>
              </a:rPr>
              <a:t>证明：</a:t>
            </a:r>
            <a:r>
              <a:rPr lang="en-US" altLang="zh-CN" dirty="0">
                <a:latin typeface="rival-sans"/>
              </a:rPr>
              <a:t>LLM </a:t>
            </a:r>
            <a:r>
              <a:rPr lang="zh-CN" altLang="en-US" dirty="0">
                <a:latin typeface="rival-sans"/>
              </a:rPr>
              <a:t>需要退出实时循环，转为异步的环境修改器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BFEC1-904D-3A0E-6814-1BFB008460D3}"/>
              </a:ext>
            </a:extLst>
          </p:cNvPr>
          <p:cNvSpPr txBox="1"/>
          <p:nvPr/>
        </p:nvSpPr>
        <p:spPr>
          <a:xfrm>
            <a:off x="986366" y="528922"/>
            <a:ext cx="10680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3. </a:t>
            </a:r>
            <a:r>
              <a:rPr lang="en-US" altLang="zh-CN" dirty="0" err="1">
                <a:hlinkClick r:id="rId2"/>
              </a:rPr>
              <a:t>EnvGen</a:t>
            </a:r>
            <a:r>
              <a:rPr lang="zh-CN" altLang="en-US" dirty="0">
                <a:hlinkClick r:id="rId2"/>
              </a:rPr>
              <a:t>：通过 </a:t>
            </a:r>
            <a:r>
              <a:rPr lang="en-US" altLang="zh-CN" dirty="0">
                <a:hlinkClick r:id="rId2"/>
              </a:rPr>
              <a:t>LLM </a:t>
            </a:r>
            <a:r>
              <a:rPr lang="zh-CN" altLang="en-US" dirty="0">
                <a:hlinkClick r:id="rId2"/>
              </a:rPr>
              <a:t>生成和适应环境以训练具身智能体（</a:t>
            </a:r>
            <a:r>
              <a:rPr lang="en-US" altLang="zh-CN" dirty="0">
                <a:hlinkClick r:id="rId2"/>
              </a:rPr>
              <a:t>UNC Chapel Hill</a:t>
            </a:r>
            <a:r>
              <a:rPr lang="zh-CN" altLang="en-US" dirty="0">
                <a:hlinkClick r:id="rId2"/>
              </a:rPr>
              <a:t> 北卡罗来纳大学教堂山分校） </a:t>
            </a:r>
            <a:r>
              <a:rPr lang="en-US" altLang="zh-CN" dirty="0">
                <a:hlinkClick r:id="rId2"/>
              </a:rPr>
              <a:t>--- </a:t>
            </a:r>
            <a:r>
              <a:rPr lang="en-US" altLang="zh-CN" dirty="0" err="1">
                <a:hlinkClick r:id="rId2"/>
              </a:rPr>
              <a:t>EnvGen</a:t>
            </a:r>
            <a:r>
              <a:rPr lang="en-US" altLang="zh-CN" dirty="0">
                <a:hlinkClick r:id="rId2"/>
              </a:rPr>
              <a:t>: Generating and Adapting Environments via LLMs for Training Embodied Agents</a:t>
            </a:r>
            <a:endParaRPr lang="zh-CN" altLang="en-US" dirty="0"/>
          </a:p>
        </p:txBody>
      </p:sp>
      <p:pic>
        <p:nvPicPr>
          <p:cNvPr id="1026" name="Picture 2" descr="Refer to caption">
            <a:extLst>
              <a:ext uri="{FF2B5EF4-FFF2-40B4-BE49-F238E27FC236}">
                <a16:creationId xmlns:a16="http://schemas.microsoft.com/office/drawing/2014/main" id="{9E699F45-5FB6-8E14-5573-C20293AED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" y="1762886"/>
            <a:ext cx="11327789" cy="2826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436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D0E8B7A-0546-BB34-4F19-E511560E6FAC}"/>
              </a:ext>
            </a:extLst>
          </p:cNvPr>
          <p:cNvSpPr txBox="1"/>
          <p:nvPr/>
        </p:nvSpPr>
        <p:spPr>
          <a:xfrm>
            <a:off x="245532" y="326074"/>
            <a:ext cx="1170940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 AGENTGEN </a:t>
            </a:r>
            <a:r>
              <a:rPr lang="en-US" altLang="zh-CN" i="0" dirty="0">
                <a:effectLst/>
                <a:latin typeface="Inter"/>
              </a:rPr>
              <a:t>Microsoft Research</a:t>
            </a:r>
            <a:r>
              <a:rPr lang="zh-CN" altLang="en-US" i="0" dirty="0">
                <a:effectLst/>
                <a:latin typeface="Inter"/>
              </a:rPr>
              <a:t>、</a:t>
            </a:r>
            <a:r>
              <a:rPr lang="en-US" altLang="zh-CN" i="0" dirty="0">
                <a:effectLst/>
                <a:latin typeface="Inter"/>
              </a:rPr>
              <a:t>HKU</a:t>
            </a:r>
            <a:endParaRPr lang="en-US" altLang="zh-CN" dirty="0"/>
          </a:p>
          <a:p>
            <a:r>
              <a:rPr lang="zh-CN" altLang="en-US" sz="1400" dirty="0"/>
              <a:t>解决大模型智能体（LLM Agent）缺乏高质量训练数据的问题。</a:t>
            </a:r>
            <a:endParaRPr lang="en-US" altLang="zh-CN" sz="1400" dirty="0"/>
          </a:p>
          <a:p>
            <a:r>
              <a:rPr lang="zh-CN" altLang="en-US" sz="1400" dirty="0"/>
              <a:t>人类手写环境太慢，AGENTGEN 想要打造一个“全自动的环境和任务生成流水线”</a:t>
            </a:r>
          </a:p>
          <a:p>
            <a:r>
              <a:rPr lang="zh-CN" altLang="en-US" sz="1400" dirty="0"/>
              <a:t>利用LLM生成多样化环境，然后生成基于这些环境的规划任务。</a:t>
            </a:r>
          </a:p>
          <a:p>
            <a:r>
              <a:rPr lang="zh-CN" altLang="en-US" sz="1400" dirty="0"/>
              <a:t>让大模型阅读海量的随机文本（如“如何做三明治”）。强制大模型把这些常识，抽象成严密的 PDDL（规划领域定义语言）代码。</a:t>
            </a:r>
            <a:endParaRPr lang="en-US" altLang="zh-CN" sz="1400" dirty="0"/>
          </a:p>
          <a:p>
            <a:r>
              <a:rPr lang="zh-CN" altLang="en-US" sz="1400" dirty="0"/>
              <a:t>把物体变成“状态变量”，把动作变成“前置条件+后果”。世界建好后，调用经典的算法求解器，算出一条绝对完美的过关路线（专家轨迹）。</a:t>
            </a:r>
          </a:p>
          <a:p>
            <a:r>
              <a:rPr lang="zh-CN" altLang="en-US" sz="1400" dirty="0"/>
              <a:t>最后，拿这些路线去训练大模型。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00C201-C203-D1C5-97CC-093466286D76}"/>
              </a:ext>
            </a:extLst>
          </p:cNvPr>
          <p:cNvSpPr txBox="1"/>
          <p:nvPr/>
        </p:nvSpPr>
        <p:spPr>
          <a:xfrm>
            <a:off x="10210800" y="617141"/>
            <a:ext cx="154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2408.00764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C60DEC-4AB4-3637-2255-6BBC06C43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32" y="2470978"/>
            <a:ext cx="10422466" cy="422708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3F218D9-E498-D324-49E5-6F65E6093C6E}"/>
              </a:ext>
            </a:extLst>
          </p:cNvPr>
          <p:cNvSpPr txBox="1"/>
          <p:nvPr/>
        </p:nvSpPr>
        <p:spPr>
          <a:xfrm>
            <a:off x="4351866" y="19348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先有语义，后有逻辑。模拟的是“实体物理世界”</a:t>
            </a:r>
          </a:p>
        </p:txBody>
      </p:sp>
    </p:spTree>
    <p:extLst>
      <p:ext uri="{BB962C8B-B14F-4D97-AF65-F5344CB8AC3E}">
        <p14:creationId xmlns:p14="http://schemas.microsoft.com/office/powerpoint/2010/main" val="368347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7744490-B411-A9E1-F802-7A8C462AF90D}"/>
              </a:ext>
            </a:extLst>
          </p:cNvPr>
          <p:cNvSpPr txBox="1"/>
          <p:nvPr/>
        </p:nvSpPr>
        <p:spPr>
          <a:xfrm>
            <a:off x="143932" y="74768"/>
            <a:ext cx="7535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5. </a:t>
            </a:r>
            <a:r>
              <a:rPr lang="zh-CN" altLang="en-US" dirty="0"/>
              <a:t>EMNLP 2025 《Procedural Environment Generation for Tool-Use Agents》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9A66592C-9608-1BE3-83CD-63E2D747D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33" y="589626"/>
            <a:ext cx="11650133" cy="489386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83620C7-113E-5C27-8935-015881DDBE97}"/>
              </a:ext>
            </a:extLst>
          </p:cNvPr>
          <p:cNvSpPr txBox="1"/>
          <p:nvPr/>
        </p:nvSpPr>
        <p:spPr>
          <a:xfrm>
            <a:off x="3087673" y="2867027"/>
            <a:ext cx="1261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i="0" dirty="0">
                <a:effectLst/>
                <a:latin typeface="Inter"/>
              </a:rPr>
              <a:t> 盲目穷举</a:t>
            </a:r>
            <a:endParaRPr lang="zh-CN" altLang="en-US" sz="1400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D534AB2-1810-E025-9A45-094327F1714D}"/>
              </a:ext>
            </a:extLst>
          </p:cNvPr>
          <p:cNvCxnSpPr/>
          <p:nvPr/>
        </p:nvCxnSpPr>
        <p:spPr>
          <a:xfrm flipV="1">
            <a:off x="3955506" y="2792315"/>
            <a:ext cx="203200" cy="149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EBAAB82B-6CE5-9EDA-E738-7DFE64C16190}"/>
              </a:ext>
            </a:extLst>
          </p:cNvPr>
          <p:cNvSpPr txBox="1"/>
          <p:nvPr/>
        </p:nvSpPr>
        <p:spPr>
          <a:xfrm>
            <a:off x="3285065" y="5629014"/>
            <a:ext cx="68664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Inter"/>
              </a:rPr>
              <a:t>证明了</a:t>
            </a:r>
            <a:r>
              <a:rPr lang="zh-CN" altLang="en-US" b="0" i="0" dirty="0">
                <a:effectLst/>
                <a:latin typeface="Inter"/>
              </a:rPr>
              <a:t>不能让大模型自由写逻辑，必须要有底层类型约束。</a:t>
            </a:r>
            <a:endParaRPr lang="en-US" altLang="zh-CN" b="0" i="0" dirty="0">
              <a:effectLst/>
              <a:latin typeface="Inter"/>
            </a:endParaRPr>
          </a:p>
          <a:p>
            <a:endParaRPr lang="en-US" altLang="zh-CN" b="0" i="0" dirty="0">
              <a:effectLst/>
              <a:latin typeface="Inter"/>
            </a:endParaRPr>
          </a:p>
          <a:p>
            <a:r>
              <a:rPr lang="zh-CN" altLang="en-US" dirty="0"/>
              <a:t>先有纯逻辑，后有语义。模拟的是“数字虚拟软件</a:t>
            </a:r>
            <a:r>
              <a:rPr lang="en-US" altLang="zh-CN" dirty="0"/>
              <a:t>/API”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06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80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16ADF6A-EB61-7D5C-7B71-1B7852914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604827"/>
              </p:ext>
            </p:extLst>
          </p:nvPr>
        </p:nvGraphicFramePr>
        <p:xfrm>
          <a:off x="275167" y="1497048"/>
          <a:ext cx="11641665" cy="4277219"/>
        </p:xfrm>
        <a:graphic>
          <a:graphicData uri="http://schemas.openxmlformats.org/drawingml/2006/table">
            <a:tbl>
              <a:tblPr/>
              <a:tblGrid>
                <a:gridCol w="2328333">
                  <a:extLst>
                    <a:ext uri="{9D8B030D-6E8A-4147-A177-3AD203B41FA5}">
                      <a16:colId xmlns:a16="http://schemas.microsoft.com/office/drawing/2014/main" val="1001042463"/>
                    </a:ext>
                  </a:extLst>
                </a:gridCol>
                <a:gridCol w="2328333">
                  <a:extLst>
                    <a:ext uri="{9D8B030D-6E8A-4147-A177-3AD203B41FA5}">
                      <a16:colId xmlns:a16="http://schemas.microsoft.com/office/drawing/2014/main" val="1269163639"/>
                    </a:ext>
                  </a:extLst>
                </a:gridCol>
                <a:gridCol w="2328333">
                  <a:extLst>
                    <a:ext uri="{9D8B030D-6E8A-4147-A177-3AD203B41FA5}">
                      <a16:colId xmlns:a16="http://schemas.microsoft.com/office/drawing/2014/main" val="2064358385"/>
                    </a:ext>
                  </a:extLst>
                </a:gridCol>
                <a:gridCol w="2328333">
                  <a:extLst>
                    <a:ext uri="{9D8B030D-6E8A-4147-A177-3AD203B41FA5}">
                      <a16:colId xmlns:a16="http://schemas.microsoft.com/office/drawing/2014/main" val="1973560961"/>
                    </a:ext>
                  </a:extLst>
                </a:gridCol>
                <a:gridCol w="2328333">
                  <a:extLst>
                    <a:ext uri="{9D8B030D-6E8A-4147-A177-3AD203B41FA5}">
                      <a16:colId xmlns:a16="http://schemas.microsoft.com/office/drawing/2014/main" val="2567245421"/>
                    </a:ext>
                  </a:extLst>
                </a:gridCol>
              </a:tblGrid>
              <a:tr h="725223"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  <a:latin typeface="Inter"/>
                        </a:rPr>
                        <a:t>框架名称 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/ 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核心定位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 dirty="0">
                          <a:effectLst/>
                          <a:latin typeface="Inter"/>
                        </a:rPr>
                        <a:t>解决的细分痛点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400" b="1" dirty="0">
                          <a:effectLst/>
                          <a:latin typeface="Inter"/>
                        </a:rPr>
                        <a:t>1.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开放创造性 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altLang="zh-CN" sz="1400" b="1" dirty="0">
                          <a:effectLst/>
                          <a:latin typeface="Inter"/>
                        </a:rPr>
                        <a:t>(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生成新实体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/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新法则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)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effectLst/>
                          <a:latin typeface="Inter"/>
                        </a:rPr>
                        <a:t>2.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物理绝对稳定</a:t>
                      </a:r>
                      <a:endParaRPr lang="en-US" altLang="zh-CN" sz="1400" b="1" dirty="0">
                        <a:effectLst/>
                        <a:latin typeface="Inter"/>
                      </a:endParaRPr>
                    </a:p>
                    <a:p>
                      <a:r>
                        <a:rPr lang="en-US" altLang="zh-CN" sz="1400" b="1" dirty="0">
                          <a:effectLst/>
                          <a:latin typeface="Inter"/>
                        </a:rPr>
                        <a:t>(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零幻觉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/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代码级结算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)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effectLst/>
                          <a:latin typeface="Inter"/>
                        </a:rPr>
                        <a:t>3.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运行时持续演化</a:t>
                      </a:r>
                      <a:endParaRPr lang="en-US" altLang="zh-CN" sz="1400" b="1" dirty="0">
                        <a:effectLst/>
                        <a:latin typeface="Inter"/>
                      </a:endParaRPr>
                    </a:p>
                    <a:p>
                      <a:r>
                        <a:rPr lang="en-US" altLang="zh-CN" sz="1400" b="1" dirty="0">
                          <a:effectLst/>
                          <a:latin typeface="Inter"/>
                        </a:rPr>
                        <a:t>(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在线热更新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)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10357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Inter"/>
                        </a:rPr>
                        <a:t>Concordia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 (DeepMind) </a:t>
                      </a:r>
                    </a:p>
                    <a:p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纯文本</a:t>
                      </a:r>
                      <a:r>
                        <a:rPr lang="en-US" sz="1400" b="0" i="1" dirty="0">
                          <a:effectLst/>
                          <a:latin typeface="Inter"/>
                        </a:rPr>
                        <a:t>DM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驱动模型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开放域社会互动模拟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 </a:t>
                      </a:r>
                      <a:r>
                        <a:rPr lang="en-US" altLang="zh-CN" sz="1400" b="0" i="1" dirty="0">
                          <a:effectLst/>
                          <a:latin typeface="Inter"/>
                        </a:rPr>
                        <a:t>LLM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可随时脑补新事物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❌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运行时极易产生物理幻觉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 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对话推动时间流逝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496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  <a:latin typeface="Inter"/>
                        </a:rPr>
                        <a:t>SimulationStreams</a:t>
                      </a:r>
                      <a:endParaRPr lang="en-US" sz="1400" b="1" dirty="0">
                        <a:effectLst/>
                        <a:latin typeface="Inter"/>
                      </a:endParaRPr>
                    </a:p>
                    <a:p>
                      <a:r>
                        <a:rPr lang="en-US" sz="1400" b="0" dirty="0">
                          <a:effectLst/>
                          <a:latin typeface="Inter"/>
                        </a:rPr>
                        <a:t> (DeepMind)</a:t>
                      </a:r>
                    </a:p>
                    <a:p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结构化流引擎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长序列模拟中的状态崩溃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❌ 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规则写死，无法凭空造物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纯代码算子，</a:t>
                      </a:r>
                      <a:r>
                        <a:rPr lang="en-US" altLang="zh-CN" sz="1400" b="0" i="1" dirty="0">
                          <a:effectLst/>
                          <a:latin typeface="Inter"/>
                        </a:rPr>
                        <a:t>100%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守恒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❌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仅状态变迁，法则不演化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97197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Inter"/>
                        </a:rPr>
                        <a:t>AGENTGEN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 (</a:t>
                      </a:r>
                      <a:r>
                        <a:rPr lang="zh-CN" altLang="en-US" sz="1400" b="0" dirty="0">
                          <a:effectLst/>
                          <a:latin typeface="Inter"/>
                        </a:rPr>
                        <a:t>微软</a:t>
                      </a:r>
                      <a:r>
                        <a:rPr lang="en-US" altLang="zh-CN" sz="1400" b="0" dirty="0">
                          <a:effectLst/>
                          <a:latin typeface="Inter"/>
                        </a:rPr>
                        <a:t>/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HKU)</a:t>
                      </a:r>
                    </a:p>
                    <a:p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离线世界生成器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智能体逻辑规划数据匮乏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 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能生成海量 </a:t>
                      </a:r>
                      <a:r>
                        <a:rPr lang="en-US" altLang="zh-CN" sz="1400" b="0" i="1" dirty="0">
                          <a:effectLst/>
                          <a:latin typeface="Inter"/>
                        </a:rPr>
                        <a:t>PDDL 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逻辑域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经典求解器保证绝对正确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❌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离线生成，跑完即废弃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391352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  <a:latin typeface="Inter"/>
                        </a:rPr>
                        <a:t>RandomWorld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 (EMNLP)</a:t>
                      </a:r>
                    </a:p>
                    <a:p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逆向</a:t>
                      </a:r>
                      <a:r>
                        <a:rPr lang="en-US" sz="1400" b="0" i="1" dirty="0">
                          <a:effectLst/>
                          <a:latin typeface="Inter"/>
                        </a:rPr>
                        <a:t>API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生成引擎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effectLst/>
                          <a:latin typeface="Inter"/>
                        </a:rPr>
                        <a:t>复杂工具链环境缺失</a:t>
                      </a: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 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通过图论拼接无数新</a:t>
                      </a:r>
                      <a:r>
                        <a:rPr lang="en-US" altLang="zh-CN" sz="1400" b="0" i="1" dirty="0">
                          <a:effectLst/>
                          <a:latin typeface="Inter"/>
                        </a:rPr>
                        <a:t>API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 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硬编码类型系统防崩溃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❌</a:t>
                      </a:r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静态训练集，世界不自主演化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046395"/>
                  </a:ext>
                </a:extLst>
              </a:tr>
              <a:tr h="651104"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Inter"/>
                        </a:rPr>
                        <a:t>Codex Apeiron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 (</a:t>
                      </a:r>
                      <a:r>
                        <a:rPr lang="zh-CN" altLang="en-US" sz="1400" b="0" dirty="0">
                          <a:effectLst/>
                          <a:latin typeface="Inter"/>
                        </a:rPr>
                        <a:t>本项目</a:t>
                      </a:r>
                      <a:r>
                        <a:rPr lang="en-US" altLang="zh-CN" sz="1400" b="0" dirty="0">
                          <a:effectLst/>
                          <a:latin typeface="Inter"/>
                        </a:rPr>
                        <a:t>)</a:t>
                      </a:r>
                    </a:p>
                    <a:p>
                      <a:r>
                        <a:rPr lang="zh-CN" altLang="en-US" sz="1400" b="0" i="1" dirty="0">
                          <a:effectLst/>
                          <a:latin typeface="Inter"/>
                        </a:rPr>
                        <a:t>上帝驱动的离散沙盒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1">
                          <a:effectLst/>
                          <a:latin typeface="Inter"/>
                        </a:rPr>
                        <a:t>通用可演化世界架构</a:t>
                      </a:r>
                      <a:endParaRPr lang="zh-CN" altLang="en-US" sz="1400" b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 </a:t>
                      </a:r>
                      <a:r>
                        <a:rPr lang="en-US" sz="1400" b="1" dirty="0">
                          <a:effectLst/>
                          <a:latin typeface="Inter"/>
                        </a:rPr>
                        <a:t>God Agent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按需生成</a:t>
                      </a:r>
                      <a:r>
                        <a:rPr lang="en-US" sz="1400" b="1" dirty="0">
                          <a:effectLst/>
                          <a:latin typeface="Inter"/>
                        </a:rPr>
                        <a:t>DSL</a:t>
                      </a:r>
                      <a:endParaRPr 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 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底层</a:t>
                      </a:r>
                      <a:r>
                        <a:rPr lang="en-US" altLang="zh-CN" sz="1400" b="1" dirty="0">
                          <a:effectLst/>
                          <a:latin typeface="Inter"/>
                        </a:rPr>
                        <a:t>ECS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引擎纯代码结算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effectLst/>
                          <a:latin typeface="Inter"/>
                        </a:rPr>
                        <a:t>✅</a:t>
                      </a:r>
                      <a:r>
                        <a:rPr lang="zh-CN" altLang="en-US" sz="1400" b="1" dirty="0">
                          <a:effectLst/>
                          <a:latin typeface="Inter"/>
                        </a:rPr>
                        <a:t>意图触发，运行时热重载</a:t>
                      </a:r>
                      <a:endParaRPr lang="zh-CN" altLang="en-US" sz="1400" b="0" dirty="0">
                        <a:effectLst/>
                        <a:latin typeface="Inter"/>
                      </a:endParaRPr>
                    </a:p>
                  </a:txBody>
                  <a:tcPr marL="61460" marR="61460" marT="30730" marB="307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97156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CA1772B7-0AFD-AA81-A22C-497A3F2EEDE7}"/>
              </a:ext>
            </a:extLst>
          </p:cNvPr>
          <p:cNvSpPr txBox="1"/>
          <p:nvPr/>
        </p:nvSpPr>
        <p:spPr>
          <a:xfrm>
            <a:off x="275167" y="10837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Inter"/>
              </a:rPr>
              <a:t>大模型如何与复杂环境交互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0378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569</Words>
  <Application>Microsoft Office PowerPoint</Application>
  <PresentationFormat>宽屏</PresentationFormat>
  <Paragraphs>64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Inter</vt:lpstr>
      <vt:lpstr>rival-sans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atlas Enfield</dc:creator>
  <cp:lastModifiedBy>atlas Enfield</cp:lastModifiedBy>
  <cp:revision>2</cp:revision>
  <dcterms:created xsi:type="dcterms:W3CDTF">2026-03-24T04:36:39Z</dcterms:created>
  <dcterms:modified xsi:type="dcterms:W3CDTF">2026-03-24T12:29:11Z</dcterms:modified>
</cp:coreProperties>
</file>